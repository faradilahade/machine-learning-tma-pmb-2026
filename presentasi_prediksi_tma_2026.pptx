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Prediksi TMA Bulanan Musim Kering 2026</a:t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BFD4E6"/>
                </a:solidFill>
                <a:latin typeface="Calibri"/>
              </a:rPr>
              <a:t>Model LSTM · Sandingan BON A/B &amp; RTOW · Neraca Air · Dashboard Siaga Kekeringan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4577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Pusat Monitoring Bendungan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8D0"/>
                </a:solidFill>
                <a:latin typeface="Calibri"/>
              </a:rPr>
              <a:t>Subdit OP Bendungan dan Danau · Direktorat Bina OP · Ditjen SDA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8D0"/>
                </a:solidFill>
                <a:latin typeface="Calibri"/>
              </a:rPr>
              <a:t>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Ringkasan Eksekutif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FD4E6"/>
                </a:solidFill>
                <a:latin typeface="Calibri"/>
              </a:rPr>
              <a:t>Prediksi Agustus–Desember 2026 · 210 bendungan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148840" cy="64008"/>
          </a:xfrm>
          <a:prstGeom prst="rect">
            <a:avLst/>
          </a:prstGeom>
          <a:solidFill>
            <a:srgbClr val="1C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6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C5D8C"/>
                </a:solidFill>
                <a:latin typeface="Calibri"/>
              </a:rPr>
              <a:t>210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3911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bendungan diprediksi
(dari 212 terdaftar)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132588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9776" y="1325880"/>
            <a:ext cx="2148840" cy="640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1453896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C62828"/>
                </a:solidFill>
                <a:latin typeface="Calibri"/>
              </a:rPr>
              <a:t>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203911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di bawah BON B (Kritis)
minimal 1 bulan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6632" y="132588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6632" y="1325880"/>
            <a:ext cx="2148840" cy="6400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2" y="1453896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D98E04"/>
                </a:solidFill>
                <a:latin typeface="Calibri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203911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di bawah BON A (Waspada)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132588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33488" y="1325880"/>
            <a:ext cx="2148840" cy="640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1453896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C62828"/>
                </a:solidFill>
                <a:latin typeface="Calibri"/>
              </a:rPr>
              <a:t>119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203911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defisit air Agu–Des
(kebutuhan &gt; ketersediaan)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10344" y="132588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10344" y="1325880"/>
            <a:ext cx="2148840" cy="64008"/>
          </a:xfrm>
          <a:prstGeom prst="rect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0344" y="1453896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6E7B8A"/>
                </a:solidFill>
                <a:latin typeface="Calibri"/>
              </a:rPr>
              <a:t>163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0344" y="2039112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di bawah elevasi
rencana RTOW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06324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Model LSTM memprediksi TMA bulanan Agustus–Desember 2026 dari 12 bulan data terakhir, lalu disandingkan dengan ambang BON A, BON B, dan RTOW per bulan.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Akurasi teruji: MAE 0,83–1,19 m — lebih akurat dari 4 metode pembanding pada dua periode uji backtest.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Analisis neraca air: kebutuhan vs ketersediaan per bulan per bendungan → status surplus/defisit; defisit terbesar LODAN (118,7 juta m³/bulan).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Seluruh hasil tersaji di dashboard Streamlit (6 menu) dengan filter pulau/balai/status, dan dapat diunduh sebagai Excel multi-lembar + grafik JPG.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Daftar Prioritas Perhatian menggabungkan status BON, RTOW, dan defisit air menjadi satu skor untuk menentukan bendungan yang paling butuh tindakan.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Alur Pengerjaan (Pipeline End-to-End)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FD4E6"/>
                </a:solidFill>
                <a:latin typeface="Calibri"/>
              </a:rPr>
              <a:t>python run_pipeline.py — 6 tahap otomatis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63040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463040"/>
            <a:ext cx="1847088" cy="457200"/>
          </a:xfrm>
          <a:prstGeom prst="rect">
            <a:avLst/>
          </a:prstGeom>
          <a:solidFill>
            <a:srgbClr val="1C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51790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1. EKSTRAKSI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70078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PostgreSQL SINBAD:
TMA, inflow, outflow,
storage curve — kunci
kolom id database</a:t>
            </a:r>
          </a:p>
        </p:txBody>
      </p:sp>
      <p:sp>
        <p:nvSpPr>
          <p:cNvPr id="12" name="Chevron 11"/>
          <p:cNvSpPr/>
          <p:nvPr/>
        </p:nvSpPr>
        <p:spPr>
          <a:xfrm>
            <a:off x="2212848" y="2523744"/>
            <a:ext cx="164592" cy="164592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0008" y="1463040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0008" y="1463040"/>
            <a:ext cx="1847088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0008" y="151790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2. QC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011680"/>
            <a:ext cx="170078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Buang spike &gt;3 m &amp;
nilai di luar kurva;
gap ≤7 hari interpolasi,
sisanya ffill; rerata bulanan</a:t>
            </a:r>
          </a:p>
        </p:txBody>
      </p:sp>
      <p:sp>
        <p:nvSpPr>
          <p:cNvPr id="17" name="Chevron 16"/>
          <p:cNvSpPr/>
          <p:nvPr/>
        </p:nvSpPr>
        <p:spPr>
          <a:xfrm>
            <a:off x="4178808" y="2523744"/>
            <a:ext cx="164592" cy="164592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5968" y="1463040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463040"/>
            <a:ext cx="1847088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51790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3. NERACA 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011680"/>
            <a:ext cx="170078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V_in = ΔV + Qout·86400
volume dari storage curve
→ inflow bulanan (juta m³)</a:t>
            </a:r>
          </a:p>
        </p:txBody>
      </p:sp>
      <p:sp>
        <p:nvSpPr>
          <p:cNvPr id="22" name="Chevron 21"/>
          <p:cNvSpPr/>
          <p:nvPr/>
        </p:nvSpPr>
        <p:spPr>
          <a:xfrm>
            <a:off x="6144768" y="2523744"/>
            <a:ext cx="164592" cy="164592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81928" y="1463040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1463040"/>
            <a:ext cx="1847088" cy="4572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151790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4. TRAINING LSTM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011680"/>
            <a:ext cx="170078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Encoder–decoder 12→5 bulan,
model global, normalisasi
per bendungan</a:t>
            </a:r>
          </a:p>
        </p:txBody>
      </p:sp>
      <p:sp>
        <p:nvSpPr>
          <p:cNvPr id="27" name="Chevron 26"/>
          <p:cNvSpPr/>
          <p:nvPr/>
        </p:nvSpPr>
        <p:spPr>
          <a:xfrm>
            <a:off x="8110728" y="2523744"/>
            <a:ext cx="164592" cy="164592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47888" y="1463040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1463040"/>
            <a:ext cx="1847088" cy="457200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151790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5. PREDIKSI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11680"/>
            <a:ext cx="170078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Agu–Des 2026 per bendungan
+ status vs BON A/B
+ sandingan RTOW</a:t>
            </a:r>
          </a:p>
        </p:txBody>
      </p:sp>
      <p:sp>
        <p:nvSpPr>
          <p:cNvPr id="32" name="Chevron 31"/>
          <p:cNvSpPr/>
          <p:nvPr/>
        </p:nvSpPr>
        <p:spPr>
          <a:xfrm>
            <a:off x="10076688" y="2523744"/>
            <a:ext cx="164592" cy="164592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13848" y="1463040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13848" y="1463040"/>
            <a:ext cx="1847088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13848" y="151790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6. EVALUASI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2011680"/>
            <a:ext cx="170078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Backtest 2 periode ×
5 metode → MAE/RMSE/
bias/MAPE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114800"/>
            <a:ext cx="111858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Sumber referensi: data_bon_a_bon_b_rtow_ketersediaan_kebutuhan_air.xlsx (sheet bon a, bon b, rtow, ketersediaan_air, kebutuhan_air) + daftar_bendungan.csv (id;kode;nama;balai;pulau).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Relasi antar-sumber memakai kolom id (id asli database SINBAD) — bukan lagi asumsi dari kode BDxxx; hasilnya cakupan naik dari 175 menjadi 210 bendungan.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Kontrol kualitas otomatis: pre-check kesegaran data, batas outflow fisik (10.000 m³/s), bendungan yang seluruh datanya tidak wajar dikeluarkan dengan alasan tercatat (2 bendungan: BD046, BD200).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Setelah pipeline selesai: streamlit run app.py untuk membuka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Data, QC, dan Persiapan Fitur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C5D8C"/>
                </a:solidFill>
                <a:latin typeface="Calibri"/>
              </a:rPr>
              <a:t>Sumber &amp; cakupan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SINBAD (skema rawdata): 117.598 baris TMA harian, 111.856 outflow, 111.855 inflow, 66.838 titik storage curve.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Periode historis 2018 – Juli 2026; realisasi 2026 = Januari–Juli.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212 bendungan terdaftar → 210 lolos QC dan dimodelkan.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QC per bendungan: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spike harian &gt; 3 m terhadap median rolling 7 hari → dibuang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nilai di luar rentang elevasi storage curve → dibuang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gap ≤ 7 hari → interpolasi linear; sisanya ambil data sebelumnya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TMA bulanan = rata-rata harian hasil QC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Volume inflow dari neraca air harian, diagregasi bulanan (juta m³); outflow anomali (&gt;10.000 m³/s) diperlakukan sebagai salah entri.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C5D8C"/>
                </a:solidFill>
                <a:latin typeface="Calibri"/>
              </a:rPr>
              <a:t>Fitur masukan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TMA bulanan ternormalisasi (min–max per bendungan)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Volume inflow bulanan ternormalisasi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Encoding siklis bulan: sin &amp; cos (pola musiman)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57600"/>
            <a:ext cx="5303520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794760"/>
            <a:ext cx="4846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F2A47"/>
                </a:solidFill>
                <a:latin typeface="Calibri"/>
              </a:rPr>
              <a:t>Ambang sandingan per bulan (Jan–Des):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BON A — batas bawah operasi waspada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BON B — batas bawah operasi kritis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RTOW — elevasi rencana tahunan operasi waduk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Neraca air — ketersediaan vs kebutuhan (m³/bulan);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defisit bila kebutuhan &gt; ketersediaan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Metode Utama: LSTM Encoder–Decoder Bulanan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1C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7830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Input
12 bulan × 4 fitur</a:t>
            </a:r>
          </a:p>
        </p:txBody>
      </p:sp>
      <p:sp>
        <p:nvSpPr>
          <p:cNvPr id="9" name="Chevron 8"/>
          <p:cNvSpPr/>
          <p:nvPr/>
        </p:nvSpPr>
        <p:spPr>
          <a:xfrm>
            <a:off x="2231136" y="1824228"/>
            <a:ext cx="155448" cy="146304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95728" y="13716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8" y="1371600"/>
            <a:ext cx="17830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Encoder
LSTM(64) + Dropout</a:t>
            </a:r>
          </a:p>
        </p:txBody>
      </p:sp>
      <p:sp>
        <p:nvSpPr>
          <p:cNvPr id="12" name="Chevron 11"/>
          <p:cNvSpPr/>
          <p:nvPr/>
        </p:nvSpPr>
        <p:spPr>
          <a:xfrm>
            <a:off x="4169664" y="1824228"/>
            <a:ext cx="155448" cy="146304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13716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371600"/>
            <a:ext cx="17830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RepeatVector(5)</a:t>
            </a:r>
          </a:p>
        </p:txBody>
      </p:sp>
      <p:sp>
        <p:nvSpPr>
          <p:cNvPr id="15" name="Chevron 14"/>
          <p:cNvSpPr/>
          <p:nvPr/>
        </p:nvSpPr>
        <p:spPr>
          <a:xfrm>
            <a:off x="6108192" y="1824228"/>
            <a:ext cx="155448" cy="146304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3716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1371600"/>
            <a:ext cx="17830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Decoder
LSTM(64) + Dropout</a:t>
            </a:r>
          </a:p>
        </p:txBody>
      </p:sp>
      <p:sp>
        <p:nvSpPr>
          <p:cNvPr id="18" name="Chevron 17"/>
          <p:cNvSpPr/>
          <p:nvPr/>
        </p:nvSpPr>
        <p:spPr>
          <a:xfrm>
            <a:off x="8046720" y="1824228"/>
            <a:ext cx="155448" cy="146304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1312" y="13716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371600"/>
            <a:ext cx="17830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TimeDistributed
Dense(1)</a:t>
            </a:r>
          </a:p>
        </p:txBody>
      </p:sp>
      <p:sp>
        <p:nvSpPr>
          <p:cNvPr id="21" name="Chevron 20"/>
          <p:cNvSpPr/>
          <p:nvPr/>
        </p:nvSpPr>
        <p:spPr>
          <a:xfrm>
            <a:off x="9985248" y="1824228"/>
            <a:ext cx="155448" cy="146304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49840" y="13716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1371600"/>
            <a:ext cx="17830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Output
TMA 5 bulan
(Agu–Des)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78892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Model GLOBAL (pooled): satu model dilatih dari seluruh bendungan sekaligus.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bendungan berdata pendek tetap mendapat pola musiman bersama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normalisasi min–max per bendungan menyamakan skala elevasi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15.225 sekuens latih; split temporal 80/20.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Adam lr 0,001 · MSE loss · EarlyStopping + ReduceLROnPlateau.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Validasi internal: val MAE 0,069 (skala 0–1).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788920"/>
            <a:ext cx="5303520" cy="3246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926080"/>
            <a:ext cx="48920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2A47"/>
                </a:solidFill>
                <a:latin typeface="Calibri"/>
              </a:rPr>
              <a:t>Mengapa LSTM?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Menangkap ketergantungan temporal panjang (tren resesi TMA musim kering) sekaligus pola musiman.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Seq2seq multi-horizon: 5 bulan diprediksi sekali jalan, konsisten antar bulan — bukan prediksi berulang yang menumpuk error.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Adaptasi dari sistem LSTM harian existing (7→5 hari) yang sudah terbukti, dipindah ke resolusi bulanan (12→5 bulan).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Cara Menguji Akurasi: Backtest &amp; Metode Pembanding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22A35"/>
                </a:solidFill>
                <a:latin typeface="Calibri"/>
              </a:rPr>
              <a:t>Backtest: model dimundurkan ke titik waktu tertentu, memprediksi 5 bulan hanya dari data SEBELUM titik itu, lalu dibandingkan dengan realisasi yang sudah terjadi.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A47"/>
                </a:solidFill>
                <a:latin typeface="Calibri"/>
              </a:rPr>
              <a:t>2 periode uji × 210 bendungan × 5 bulan = 1.050 titik uji per metode: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• Agu–Des 2025 — kalender sama dengan horizon prediksi 2026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• Mar–Jul 2026 — periode terbaru berealisasi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004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2004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LSTM (produksi)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461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model yang dipakai memprediksi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67328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767328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Persistensi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81304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TMA bulan terakhir dianggap konstan (baseline naif)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34256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334256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Naif musiman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37997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TMA bulan yang sama tahun sebelumnya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01184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901184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Klimatologi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946904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rata-rata TMA bulan kalender yang sama, seluruh histori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68112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468112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Tren linier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5138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regresi 6 bulan terakhir diekstrapolasi 5 bulan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920240"/>
            <a:ext cx="5303520" cy="40233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057400"/>
            <a:ext cx="4892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0F2A47"/>
                </a:solidFill>
                <a:latin typeface="Calibri"/>
              </a:rPr>
              <a:t>Metrik yang dihitung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MAE — rata-rata selisih absolut (meter); metrik utama.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RMSE — akar rata-rata kuadrat error; menghukum error besar.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Bias — rata-rata error bertanda; positif = prediksi terlalu tinggi.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MAPE thd rentang — MAE ÷ rentang TMA historis bendungan (%), agar bendungan dangkal &amp; dalam sebanding.</a:t>
            </a:r>
          </a:p>
          <a:p>
            <a:pPr algn="l">
              <a:lnSpc>
                <a:spcPct val="122000"/>
              </a:lnSpc>
            </a:pPr>
            <a:r>
              <a:rPr sz="800" b="0">
                <a:solidFill>
                  <a:srgbClr val="222A35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6E7B8A"/>
                </a:solidFill>
                <a:latin typeface="Calibri"/>
              </a:rPr>
              <a:t>Catatan kejujuran: periode uji masih berada dalam rentang data pelatihan model produksi, sehingga skor LSTM cenderung optimis. Baseline tidak "belajar" apa pun sehingga tetap pembanding yang adil.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Hasil Akurasi: LSTM Terbaik di Kedua Periode Uji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pic>
        <p:nvPicPr>
          <p:cNvPr id="7" name="Picture 6" descr="ppt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949440" cy="3472831"/>
          </a:xfrm>
          <a:prstGeom prst="rect">
            <a:avLst/>
          </a:prstGeom>
          <a:ln w="12700">
            <a:solidFill>
              <a:srgbClr val="D5DDE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772400" y="1371600"/>
            <a:ext cx="3931920" cy="20116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474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2A47"/>
                </a:solidFill>
                <a:latin typeface="Calibri"/>
              </a:rPr>
              <a:t>LSTM (produksi)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35"/>
                </a:solidFill>
                <a:latin typeface="Calibri"/>
              </a:rPr>
              <a:t>MAE 1,19 m (uji Agu–Des 2025)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35"/>
                </a:solidFill>
                <a:latin typeface="Calibri"/>
              </a:rPr>
              <a:t>MAE 0,83 m (uji Mar–Jul 2026)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E7B8A"/>
                </a:solidFill>
                <a:latin typeface="Calibri"/>
              </a:rPr>
              <a:t>RMSE 1,63 m · bias +0,21 m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E7B8A"/>
                </a:solidFill>
                <a:latin typeface="Calibri"/>
              </a:rPr>
              <a:t>MAPE 18,3% dari rentang TMA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611880"/>
            <a:ext cx="39776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222A35"/>
                </a:solidFill>
                <a:latin typeface="Calibri"/>
              </a:rPr>
              <a:t>• Lebih akurat 36–56% dibanding baseline terbaik di tiap periode.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Calibri"/>
              </a:rPr>
              <a:t>• Persistensi &amp; naif musiman = pembanding terkuat; klimatologi terlemah.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Calibri"/>
              </a:rPr>
              <a:t>• Bias kecil (+0,2 m): prediksi tidak sistematis terlalu tinggi/rendah.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Calibri"/>
              </a:rPr>
              <a:t>• Rincian per bendungan tersedia di output/prediksi/evaluasi_metode.xlsx.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Dashboard Streamlit — Struktur &amp;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FD4E6"/>
                </a:solidFill>
                <a:latin typeface="Calibri"/>
              </a:rPr>
              <a:t>streamlit run 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🏜️ Siaga Kekeringan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07592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KPI nasional, donat status, batang per bulan/balai, kalender kritis, defisit air, daftar prioritas berskor, akurasi &amp; metode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66544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1C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66544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📈 Detail Bendungan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093976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grafik sandingan interaktif (realisasi, prediksi, BON A/B, RTOW), narasi otomatis, neraca air per bulan, unduh JPG/Excel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52928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52928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🚨 Pemantauan Agustus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88036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tabel pemantauan bulan fokus (bisa ganti Sep–Des): selisih ke BON A/B &amp; RTOW, peringkat kerawanan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39312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2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🗂️ Rekap &amp; Di bawah BON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666744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rekap semua bendungan + rincian bulan yang menembus BON B + rekap per balai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25696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25696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🧩 Data Belum Cocok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453128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bendungan yang datanya belum terhubung antar sumber + tindak lanjut per kategori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12080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⬇️ Unduh Laporan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239512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Excel 10 lembar + ZIP grafik JPG — semua bendungan atau hanya yang di bawah BON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1280160"/>
            <a:ext cx="2926080" cy="4617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1417320"/>
            <a:ext cx="25146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Calibri"/>
              </a:rPr>
              <a:t>Filter global (panel kiri)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Pulau / wilayah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Balai (BBWS/BWS)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Status terburuk prediksi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222A35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7B8A"/>
                </a:solidFill>
                <a:latin typeface="Calibri"/>
              </a:rPr>
              <a:t>Berlaku di semua menu — termasuk isi berkas Excel/ZIP yang diunduh, sehingga tiap balai bisa membuat laporan wilayahnya sendiri.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Menu Siaga Kekeringan — Ringkasan Visual Nasional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pic>
        <p:nvPicPr>
          <p:cNvPr id="7" name="Picture 6" descr="ppt_siag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503920" cy="5385816"/>
          </a:xfrm>
          <a:prstGeom prst="rect">
            <a:avLst/>
          </a:prstGeom>
          <a:ln w="12700">
            <a:solidFill>
              <a:srgbClr val="D5DDE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235440" y="1463040"/>
            <a:ext cx="2560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KPI: 210 dipantau · 85 kritis · 100 waspada · 119 defisit air · 163 di bawah RTOW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Donat: proporsi status terburuk Agu–Des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Batang bertumpuk: status per bulan — kondisi terberat Desember (65 kritis)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Batang per balai: BBWS NT I paling terdampak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Siaga Kekeringan — Kalender Kritis, Defisit Air, Prioritas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pic>
        <p:nvPicPr>
          <p:cNvPr id="7" name="Picture 6" descr="ppt_siag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503920" cy="5385816"/>
          </a:xfrm>
          <a:prstGeom prst="rect">
            <a:avLst/>
          </a:prstGeom>
          <a:ln w="12700">
            <a:solidFill>
              <a:srgbClr val="D5DDE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235440" y="1463040"/>
            <a:ext cx="2560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Kalender panas: bulan merah = prediksi di bawah BON B — terlihat kapan tiap bendungan mulai kritis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15 defisit air terbesar: LODAN 118,7 · BILI BILI 90,3 · PENJALIN 68,6 juta m³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222A35"/>
                </a:solidFill>
                <a:latin typeface="Calibri"/>
              </a:rPr>
              <a:t>• Daftar Prioritas: skor = 3×kritis + 1×waspada + 2×defisit air + 1×bawah RTOW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Menu Detail — Grafik Sandingan per Bendungan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pic>
        <p:nvPicPr>
          <p:cNvPr id="7" name="Picture 6" descr="uji_grafik_rt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8138160" cy="4245997"/>
          </a:xfrm>
          <a:prstGeom prst="rect">
            <a:avLst/>
          </a:prstGeom>
          <a:ln w="12700">
            <a:solidFill>
              <a:srgbClr val="D5DDE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86968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Hijau: realisasi Jan–Jul 2026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Merah putus-putus: prediksi LSTM Agu–Des (lingkaran = bulan di bawah BON B)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Amber/coral: BON A/BON B + zona kritis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222A35"/>
                </a:solidFill>
                <a:latin typeface="Calibri"/>
              </a:rPr>
              <a:t>• Biru titik-titik: RTOW (rencana operasi)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Tersedia interaktif (hover) di dashboard, dan versi JPG untuk laporan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Narasi otomatis: tren, TMA minimum, bulan pertama menembus ambang, rekomendasi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Menu Detail — Neraca Air: Kebutuhan vs Ketersediaan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pic>
        <p:nvPicPr>
          <p:cNvPr id="7" name="Picture 6" descr="ppt_detai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503920" cy="5385816"/>
          </a:xfrm>
          <a:prstGeom prst="rect">
            <a:avLst/>
          </a:prstGeom>
          <a:ln w="12700">
            <a:solidFill>
              <a:srgbClr val="D5DDE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235440" y="1463040"/>
            <a:ext cx="2560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Batang teal = ketersediaan, navy = kebutuhan (juta m³/bulan)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222A35"/>
                </a:solidFill>
                <a:latin typeface="Calibri"/>
              </a:rPr>
              <a:t>• Defisit bila kebutuhan &gt; ketersediaan pada bulan tsb; ditandai ▼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Analisis otomatis per bendungan: bulan defisit, defisit terbesar, total setahun, rekomendasi alokasi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Tabel berwarna ikut masuk ke lembar Excel "Neraca Air Bulanan"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Ekspor Laporan — Excel &amp; Grafik 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C5D8C"/>
                </a:solidFill>
                <a:latin typeface="Calibri"/>
              </a:rPr>
              <a:t>Excel multi-lembar (siap Nota Dinas)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Penjelasan — metodologi, arti status, definisi kolom, batasan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Ringkasan Bendungan — 1 baris/bendungan + narasi otomatis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Pemantauan Agustus — selisih ke BON A/B &amp; RTOW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Prediksi Bulanan — data lengkap realisasi + prediksi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Di bawah BON B (bulan fokus &amp; Agu–Des)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Rekap per Balai · Rekap Neraca Air · Neraca Air Bulanan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Data Belum Cocok — masalah data + tindak lanjut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Pewarnaan status, autofilter, freeze pane otomatis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C5D8C"/>
                </a:solidFill>
                <a:latin typeface="Calibri"/>
              </a:rPr>
              <a:t>Grafik JPG /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JPG grafik sandingan per bendungan (unduh satuan)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ZIP semua bendungan — folder KRITIS / WASPADA / NORMAL / TANPA-BON (±45 detik utk 210 grafik)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Grafik peringkat kerawanan bulanan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Dua cakupan: semua bendungan / hanya di bawah BON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6344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800600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Semua ekspor mengikuti filter aktif (pulau/balai/status),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dibuat di memori — tidak menulis file sementara di server.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Kesimpulan &amp; Tindak Lanjut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Sistem end-to-end berjalan penuh: 1 perintah pipeline + 1 perintah dashboard.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85 bendungan diprediksi menembus BON B pada Agu–Des 2026 — puncaknya Desember (65 bendungan); daftar prioritas siap dipakai untuk penetapan tindakan.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119 bendungan defisit air pada musim kering — perlu penyesuaian alokasi/pola tanam di bulan defisit.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Akurasi model terukur dan diperbandingkan (MAE 0,83–1,19 m, terbaik dari 5 metode).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Tindak lanjut disarankan: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verifikasi nilai BON anomali pada file referensi (mis. KEDUNG OMBO September)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perbaiki 2 bendungan yang datanya ditolak QC (BD046, BD200)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jalankan ulang pipeline tiap awal bulan agar prediksi bergerak maju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retrain dengan cutoff kalender terpisah untuk skor akurasi yang lebih konservatif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371600"/>
            <a:ext cx="3840480" cy="237744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3832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Cara menjalankan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BFD4E6"/>
                </a:solidFill>
                <a:latin typeface="Calibri"/>
              </a:rPr>
              <a:t>1)  python run_pipeline.py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     (±10–15 menit)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BFD4E6"/>
                </a:solidFill>
                <a:latin typeface="Calibri"/>
              </a:rPr>
              <a:t>2)  streamlit run 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02336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E7B8A"/>
                </a:solidFill>
                <a:latin typeface="Calibri"/>
              </a:rPr>
              <a:t>Pusat Monitoring Bendungan
Subdit OP Bendungan dan Danau
Dit. Bina OP · Ditjen SDA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