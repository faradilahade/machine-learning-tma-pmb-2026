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Prediksi TMA per Periode 10/15-Harian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Musim Kering Agustus–Desember 2026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BFD4E6"/>
                </a:solidFill>
                <a:latin typeface="Calibri"/>
              </a:rPr>
              <a:t>Skala periode format RTOW · Fitur sifat musim · Rekap 3 kategori BON · Neraca air &amp; outflow · Dashboard +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4577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Pusat Monitoring Bendungan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8D0"/>
                </a:solidFill>
                <a:latin typeface="Calibri"/>
              </a:rPr>
              <a:t>Subdit OP Bendungan dan Danau · Direktorat Bina OP · Ditjen SDA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8D0"/>
                </a:solidFill>
                <a:latin typeface="Calibri"/>
              </a:rPr>
              <a:t>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Ringkasan Eksekutif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FD4E6"/>
                </a:solidFill>
                <a:latin typeface="Calibri"/>
              </a:rPr>
              <a:t>Prediksi Agustus–Desember 2026 · 210 bendungan · skala periode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214884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2148840" cy="64008"/>
          </a:xfrm>
          <a:prstGeom prst="rect">
            <a:avLst/>
          </a:prstGeom>
          <a:solidFill>
            <a:srgbClr val="1C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08176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C5D8C"/>
                </a:solidFill>
                <a:latin typeface="Calibri"/>
              </a:rPr>
              <a:t>210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bendungan diprediksi
(115×15-harian, 95×10-harian)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9776" y="1280160"/>
            <a:ext cx="214884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9776" y="1280160"/>
            <a:ext cx="2148840" cy="640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1408176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E7D32"/>
                </a:solidFill>
                <a:latin typeface="Calibri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1993392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Di atas BON A
(aman sepanjang Agu–Des)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6632" y="1280160"/>
            <a:ext cx="214884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6632" y="1280160"/>
            <a:ext cx="2148840" cy="64008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2" y="1408176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D98E04"/>
                </a:solidFill>
                <a:latin typeface="Calibri"/>
              </a:rPr>
              <a:t>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1993392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Di antara BON A dan BON B
(perlu pengetatan)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3488" y="1280160"/>
            <a:ext cx="214884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33488" y="1280160"/>
            <a:ext cx="2148840" cy="640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1408176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C62828"/>
                </a:solidFill>
                <a:latin typeface="Calibri"/>
              </a:rPr>
              <a:t>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1993392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Di bawah BON B
minimal 1 periode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10344" y="1280160"/>
            <a:ext cx="214884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10344" y="1280160"/>
            <a:ext cx="2148840" cy="64008"/>
          </a:xfrm>
          <a:prstGeom prst="rect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0344" y="1408176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6E7B8A"/>
                </a:solidFill>
                <a:latin typeface="Calibri"/>
              </a:rPr>
              <a:t>161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0344" y="1993392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di bawah elevasi
rencana RTOW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063240"/>
            <a:ext cx="1118585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Seluruh perhitungan &amp; grafik kini pada SKALA PERIODE mengikuti format RTOW tiap bendungan: 15 Harian (label 01-01, 01-02, 02-01, …, 12-02) atau 10 Harian (01-01…01-03, …, 12-03) — sumbu-x grafik sama dengan format grafik RTOW standar.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Model LSTM belajar dari SIFAT MUSIM (Basah/Normal/Kering per tahun air 2022-2023 s.d. 2025-2026) sehingga prediksi menyesuaikan karakter tahun berjalan dari pola tahun-tahun sebelumnya.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Akurasi meningkat: MAE 1,07 m (uji Agu–Des 2025) dan 0,88 m (uji Mar–Jul 2026) dengan bias hampir nol — terbaik dari 5 metode.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Rekapitulasi difokuskan 3 kategori: Di atas BON A · Di antara BON A–B · Di bawah BON B, plus surplus/defisit air per bulan.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Dashboard dilengkapi kesimpulan otomatis seluruh data dan unduhan laporan PDF selain Excel &amp; ZIP grafik JPG.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Apa yang Baru pada Pembaruan 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FD4E6"/>
                </a:solidFill>
                <a:latin typeface="Calibri"/>
              </a:rPr>
              <a:t>dibanding versi bulanan sebelumnya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828800" cy="38404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261872"/>
            <a:ext cx="16824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Aspek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234440"/>
            <a:ext cx="4206240" cy="38404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4872" y="1261872"/>
            <a:ext cx="40599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Sebelumnya (bulanan)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234440"/>
            <a:ext cx="5212080" cy="38404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261872"/>
            <a:ext cx="50657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Sekarang (periode)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618488"/>
            <a:ext cx="1828800" cy="4754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1645920"/>
            <a:ext cx="168249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0F2A47"/>
                </a:solidFill>
                <a:latin typeface="Calibri"/>
              </a:rPr>
              <a:t>Resolusi waktu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1618488"/>
            <a:ext cx="4206240" cy="4754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04872" y="1645920"/>
            <a:ext cx="40599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12 nilai/tahun per bendungan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618488"/>
            <a:ext cx="5212080" cy="4754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1645920"/>
            <a:ext cx="50657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24 atau 36 periode/tahun sesuai format RTOW (fromat-rtow.csv)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093976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121408"/>
            <a:ext cx="168249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0F2A47"/>
                </a:solidFill>
                <a:latin typeface="Calibri"/>
              </a:rPr>
              <a:t>Model LSTM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2093976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04872" y="2121408"/>
            <a:ext cx="40599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1 model global 12→5 bulan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2093976"/>
            <a:ext cx="52120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2121408"/>
            <a:ext cx="50657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2 model global per format: 24→10 dan 36→15 periode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569464"/>
            <a:ext cx="1828800" cy="4754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2596896"/>
            <a:ext cx="168249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0F2A47"/>
                </a:solidFill>
                <a:latin typeface="Calibri"/>
              </a:rPr>
              <a:t>Fitur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2569464"/>
            <a:ext cx="4206240" cy="4754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04872" y="2596896"/>
            <a:ext cx="40599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TMA, inflow, sin/cos bulan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2569464"/>
            <a:ext cx="5212080" cy="4754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1112" y="2596896"/>
            <a:ext cx="50657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+ SIFAT MUSIM tahun air (Kering/Normal/Basah, sifat_musim.csv)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044952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3072384"/>
            <a:ext cx="168249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0F2A47"/>
                </a:solidFill>
                <a:latin typeface="Calibri"/>
              </a:rPr>
              <a:t>Status BON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3044952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04872" y="3072384"/>
            <a:ext cx="40599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Normal/Waspada/Kritis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3044952"/>
            <a:ext cx="52120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1112" y="3072384"/>
            <a:ext cx="50657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3 kategori eksplisit: Di atas BON A · Di antara BON A–B · Di bawah BON 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520440"/>
            <a:ext cx="1828800" cy="4754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3547872"/>
            <a:ext cx="168249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0F2A47"/>
                </a:solidFill>
                <a:latin typeface="Calibri"/>
              </a:rPr>
              <a:t>Grafik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31720" y="3520440"/>
            <a:ext cx="4206240" cy="4754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04872" y="3547872"/>
            <a:ext cx="40599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sumbu-x bulan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3520440"/>
            <a:ext cx="5212080" cy="4754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11112" y="3547872"/>
            <a:ext cx="50657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sumbu-x label periode 01-01…12-03 (format grafik RTOW), interaktif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995928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4023360"/>
            <a:ext cx="168249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0F2A47"/>
                </a:solidFill>
                <a:latin typeface="Calibri"/>
              </a:rPr>
              <a:t>Keluaran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31720" y="3995928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04872" y="4023360"/>
            <a:ext cx="40599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Excel + ZIP JPG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60" y="3995928"/>
            <a:ext cx="52120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11112" y="4023360"/>
            <a:ext cx="50657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222A35"/>
                </a:solidFill>
                <a:latin typeface="Calibri"/>
              </a:rPr>
              <a:t>+ laporan PDF + kesimpulan otomatis + hasil analisis per bendungan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700016"/>
            <a:ext cx="111858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Definisi periode — 15 Harian: tgl 1–15 &amp; 16–akhir (2/bulan) · 10 Harian: tgl 1–10, 11–20, 21–akhir (3/bulan).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Nilai BON A/B, RTOW, dan neraca air bersumber bulanan → berlaku untuk semua periode pada bulan tersebut.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Agregasi lintas-bendungan menilai bulan dari periode terburuknya agar bendungan 10-harian &amp; 15-harian sebanding.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Alur Pengerjaan (Pipeline End-to-End)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FD4E6"/>
                </a:solidFill>
                <a:latin typeface="Calibri"/>
              </a:rPr>
              <a:t>python run_pipeline.py — 6 tahap otomatis, skala periode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371600"/>
            <a:ext cx="1847088" cy="21488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371600"/>
            <a:ext cx="1847088" cy="457200"/>
          </a:xfrm>
          <a:prstGeom prst="rect">
            <a:avLst/>
          </a:prstGeom>
          <a:solidFill>
            <a:srgbClr val="1C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26464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1. EKSTRAKSI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700784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A35"/>
                </a:solidFill>
                <a:latin typeface="Calibri"/>
              </a:rPr>
              <a:t>SINBAD: TMA, inflow,
outflow (6 komponen),
storage curve —
kunci kolom id</a:t>
            </a:r>
          </a:p>
        </p:txBody>
      </p:sp>
      <p:sp>
        <p:nvSpPr>
          <p:cNvPr id="12" name="Chevron 11"/>
          <p:cNvSpPr/>
          <p:nvPr/>
        </p:nvSpPr>
        <p:spPr>
          <a:xfrm>
            <a:off x="2212848" y="2363724"/>
            <a:ext cx="164592" cy="164592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50008" y="1371600"/>
            <a:ext cx="1847088" cy="21488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0008" y="1371600"/>
            <a:ext cx="1847088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0008" y="1426464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2. QC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1920240"/>
            <a:ext cx="1700784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A35"/>
                </a:solidFill>
                <a:latin typeface="Calibri"/>
              </a:rPr>
              <a:t>Spike &gt;3 m &amp; di luar
kurva dibuang; gap ≤7 hr
interpolasi; agregasi
PERIODE 10/15-harian</a:t>
            </a:r>
          </a:p>
        </p:txBody>
      </p:sp>
      <p:sp>
        <p:nvSpPr>
          <p:cNvPr id="17" name="Chevron 16"/>
          <p:cNvSpPr/>
          <p:nvPr/>
        </p:nvSpPr>
        <p:spPr>
          <a:xfrm>
            <a:off x="4178808" y="2363724"/>
            <a:ext cx="164592" cy="164592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15968" y="1371600"/>
            <a:ext cx="1847088" cy="21488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371600"/>
            <a:ext cx="1847088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426464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3. NERACA 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920240"/>
            <a:ext cx="1700784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A35"/>
                </a:solidFill>
                <a:latin typeface="Calibri"/>
              </a:rPr>
              <a:t>V_in = ΔV + Qout·86400
→ inflow per periode
(juta m³)</a:t>
            </a:r>
          </a:p>
        </p:txBody>
      </p:sp>
      <p:sp>
        <p:nvSpPr>
          <p:cNvPr id="22" name="Chevron 21"/>
          <p:cNvSpPr/>
          <p:nvPr/>
        </p:nvSpPr>
        <p:spPr>
          <a:xfrm>
            <a:off x="6144768" y="2363724"/>
            <a:ext cx="164592" cy="164592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81928" y="1371600"/>
            <a:ext cx="1847088" cy="21488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1928" y="1371600"/>
            <a:ext cx="1847088" cy="4572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1426464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4.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920240"/>
            <a:ext cx="1700784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A35"/>
                </a:solidFill>
                <a:latin typeface="Calibri"/>
              </a:rPr>
              <a:t>2 model LSTM per format
+ fitur sifat musim;
normalisasi per bendungan</a:t>
            </a:r>
          </a:p>
        </p:txBody>
      </p:sp>
      <p:sp>
        <p:nvSpPr>
          <p:cNvPr id="27" name="Chevron 26"/>
          <p:cNvSpPr/>
          <p:nvPr/>
        </p:nvSpPr>
        <p:spPr>
          <a:xfrm>
            <a:off x="8110728" y="2363724"/>
            <a:ext cx="164592" cy="164592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47888" y="1371600"/>
            <a:ext cx="1847088" cy="21488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1371600"/>
            <a:ext cx="1847088" cy="457200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1426464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5. PREDIKSI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1920240"/>
            <a:ext cx="1700784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A35"/>
                </a:solidFill>
                <a:latin typeface="Calibri"/>
              </a:rPr>
              <a:t>Periode Agu–Des 2026
+ status 3 kategori BON
+ sandingan RTOW</a:t>
            </a:r>
          </a:p>
        </p:txBody>
      </p:sp>
      <p:sp>
        <p:nvSpPr>
          <p:cNvPr id="32" name="Chevron 31"/>
          <p:cNvSpPr/>
          <p:nvPr/>
        </p:nvSpPr>
        <p:spPr>
          <a:xfrm>
            <a:off x="10076688" y="2363724"/>
            <a:ext cx="164592" cy="164592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13848" y="1371600"/>
            <a:ext cx="1847088" cy="21488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13848" y="1371600"/>
            <a:ext cx="1847088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13848" y="1426464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6. EVALUASI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1920240"/>
            <a:ext cx="1700784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A35"/>
                </a:solidFill>
                <a:latin typeface="Calibri"/>
              </a:rPr>
              <a:t>Backtest 2 periode uji ×
5 metode → MAE/RMSE/
bias/MAPE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886200"/>
            <a:ext cx="1118585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Hasil data: tma_periode.parquet &amp; gabungan_periode.parquet — 53.045 baris periode, 210 bendungan (2 dikeluarkan QC: BD046, BD200).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Sekuens latih: 19.895 (15-harian, 115 bendungan) + 24.605 (10-harian, 95 bendungan); val MAE 0,059 / 0,069 (skala normalisasi).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Sifat musim horizon: Agu–Okt 2026 memakai tahun air 2025-2026; Nov–Des memakai tahun air terakhir yang diketahui.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Setelah pipeline: streamlit run app.py.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Data &amp; Sumber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C5D8C"/>
                </a:solidFill>
                <a:latin typeface="Calibri"/>
              </a:rPr>
              <a:t>Database SINBAD (rawdata)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TMA harian: 117.598 baris · inflow: 111.855 · outflow: 111.856 · storage curve: 66.838 titik.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Kunci relasi = kolom id database (daftar_bendungan.csv) untuk penarikan semua tabel.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Periode historis 2018 – Juli 2026; realisasi 2026 = Jan–Jul.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C5D8C"/>
                </a:solidFill>
                <a:latin typeface="Calibri"/>
              </a:rPr>
              <a:t>File referensi (data_bon/)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6908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data_bon_a_bon_b_rtow_ketersediaan_kebutuhan_air.xlsx — sheet bon a, bon b, rtow (mdpl, Jan–Des) + ketersediaan_air, kebutuhan_air (m³/bulan).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fromat-rtow.csv — format periode per bendungan (114+2→116 ×15-harian, 96 ×10-harian).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sifat_musim.csv — Basah/Normal/Kering per tahun air 2022-2023 … 2025-2026.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5303520" cy="5029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325880"/>
            <a:ext cx="48920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7"/>
                </a:solidFill>
                <a:latin typeface="Calibri"/>
              </a:rPr>
              <a:t>Skala periode &amp; label sumbu-x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222A35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2A35"/>
                </a:solidFill>
                <a:latin typeface="Calibri"/>
              </a:rPr>
              <a:t>15 Harian (2 periode/bulan):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1C5D8C"/>
                </a:solidFill>
                <a:latin typeface="Calibri"/>
              </a:rPr>
              <a:t>01-01, 01-02, 02-01, 02-02, …, 12-01, 12-02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E7B8A"/>
                </a:solidFill>
                <a:latin typeface="Calibri"/>
              </a:rPr>
              <a:t>periode 1 = tgl 1–15 · periode 2 = tgl 16–akhir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222A35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2A35"/>
                </a:solidFill>
                <a:latin typeface="Calibri"/>
              </a:rPr>
              <a:t>10 Harian (3 periode/bulan):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1C5D8C"/>
                </a:solidFill>
                <a:latin typeface="Calibri"/>
              </a:rPr>
              <a:t>01-01, 01-02, 01-03, 02-01, …, 12-03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E7B8A"/>
                </a:solidFill>
                <a:latin typeface="Calibri"/>
              </a:rPr>
              <a:t>periode 1 = 1–10 · 2 = 11–20 · 3 = 21–akhir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222A35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TMA periode = rata-rata harian hasil QC;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inflow periode = jumlah volume harian (juta m³).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222A35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Sifat musim (tahun air Nov–Okt) diskor:</a:t>
            </a: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1C5D8C"/>
                </a:solidFill>
                <a:latin typeface="Calibri"/>
              </a:rPr>
              <a:t>Kering = -1 · Normal = 0 · Basah = +1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Data Outflow: Sumber, QC, dan Perannya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FD4E6"/>
                </a:solidFill>
                <a:latin typeface="Calibri"/>
              </a:rPr>
              <a:t>rawdata.sinbad_bendungan_outflow — 111.856 baris harian, 212 bendungan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120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Outflow total = jumlah 6 komponen (m³/detik):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turbin · air baku · air industri · irigasi · limpas · pemeliharaan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QC outflow: nilai negatif atau &gt; 10.000 m³/s dianggap salah entri → diganti data sebelumnya (8 baris terdeteksi, terekstrem 3,2 juta m³/s).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Profil data bersih: median 0,04 m³/s · p90 6,3 · p99 65,4 m³/s — mayoritas bendungan kecil, sebagian besar debit dari bendungan besar.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Volume keluar nasional 2026: puncak Maret (5.772 juta m³) lalu menurun ke 1.275–1.789 juta m³ per bulan saat masuk musim kering.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5120640" cy="1965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47091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2A47"/>
                </a:solidFill>
                <a:latin typeface="Calibri"/>
              </a:rPr>
              <a:t>Peran outflow dalam sistem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Outflow adalah kunci NERACA AIR pembentuk fitur inflow: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5D8C"/>
                </a:solidFill>
                <a:latin typeface="Calibri"/>
              </a:rPr>
              <a:t>V_inflow(t) = V(t) − V(t−1) + Q_outflow(t)·86400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6E7B8A"/>
                </a:solidFill>
                <a:latin typeface="Calibri"/>
              </a:rPr>
              <a:t>V dari storage curve (elevasi→volume). Tanpa QC outflow, satu hari salah entri menambah miliaran m³ ke inflow dan merusak normalisasi fitur model.</a:t>
            </a:r>
          </a:p>
        </p:txBody>
      </p:sp>
      <p:pic>
        <p:nvPicPr>
          <p:cNvPr id="11" name="Picture 10" descr="ppt2_out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80160"/>
            <a:ext cx="5852160" cy="3054961"/>
          </a:xfrm>
          <a:prstGeom prst="rect">
            <a:avLst/>
          </a:prstGeom>
          <a:ln w="12700">
            <a:solidFill>
              <a:srgbClr val="D5DDE5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Model: LSTM Encoder–Decoder per Periode + Sifat Musim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1783080" cy="1097280"/>
          </a:xfrm>
          <a:prstGeom prst="roundRect">
            <a:avLst>
              <a:gd name="adj" fmla="val 8000"/>
            </a:avLst>
          </a:prstGeom>
          <a:solidFill>
            <a:srgbClr val="1C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783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Input
1 tahun periode
(24 / 36) × 5 fitur</a:t>
            </a:r>
          </a:p>
        </p:txBody>
      </p:sp>
      <p:sp>
        <p:nvSpPr>
          <p:cNvPr id="9" name="Chevron 8"/>
          <p:cNvSpPr/>
          <p:nvPr/>
        </p:nvSpPr>
        <p:spPr>
          <a:xfrm>
            <a:off x="2231136" y="1801368"/>
            <a:ext cx="155448" cy="146304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95728" y="1325880"/>
            <a:ext cx="1783080" cy="109728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8" y="1325880"/>
            <a:ext cx="1783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Encoder
LSTM(64)+Dropout</a:t>
            </a:r>
          </a:p>
        </p:txBody>
      </p:sp>
      <p:sp>
        <p:nvSpPr>
          <p:cNvPr id="12" name="Chevron 11"/>
          <p:cNvSpPr/>
          <p:nvPr/>
        </p:nvSpPr>
        <p:spPr>
          <a:xfrm>
            <a:off x="4169664" y="1801368"/>
            <a:ext cx="155448" cy="146304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4256" y="1325880"/>
            <a:ext cx="1783080" cy="1097280"/>
          </a:xfrm>
          <a:prstGeom prst="roundRect">
            <a:avLst>
              <a:gd name="adj" fmla="val 8000"/>
            </a:avLst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1325880"/>
            <a:ext cx="1783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RepeatVector</a:t>
            </a:r>
          </a:p>
        </p:txBody>
      </p:sp>
      <p:sp>
        <p:nvSpPr>
          <p:cNvPr id="15" name="Chevron 14"/>
          <p:cNvSpPr/>
          <p:nvPr/>
        </p:nvSpPr>
        <p:spPr>
          <a:xfrm>
            <a:off x="6108192" y="1801368"/>
            <a:ext cx="155448" cy="146304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325880"/>
            <a:ext cx="1783080" cy="109728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1325880"/>
            <a:ext cx="1783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Decoder
LSTM(64)+Dropout</a:t>
            </a:r>
          </a:p>
        </p:txBody>
      </p:sp>
      <p:sp>
        <p:nvSpPr>
          <p:cNvPr id="18" name="Chevron 17"/>
          <p:cNvSpPr/>
          <p:nvPr/>
        </p:nvSpPr>
        <p:spPr>
          <a:xfrm>
            <a:off x="8046720" y="1801368"/>
            <a:ext cx="155448" cy="146304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1312" y="1325880"/>
            <a:ext cx="1783080" cy="109728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325880"/>
            <a:ext cx="1783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Dense(1) per step</a:t>
            </a:r>
          </a:p>
        </p:txBody>
      </p:sp>
      <p:sp>
        <p:nvSpPr>
          <p:cNvPr id="21" name="Chevron 20"/>
          <p:cNvSpPr/>
          <p:nvPr/>
        </p:nvSpPr>
        <p:spPr>
          <a:xfrm>
            <a:off x="9985248" y="1801368"/>
            <a:ext cx="155448" cy="146304"/>
          </a:xfrm>
          <a:prstGeom prst="chevron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49840" y="1325880"/>
            <a:ext cx="1783080" cy="109728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1325880"/>
            <a:ext cx="1783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Output
periode Agu–Des
(10 / 15)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74320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DUA model global (pooled) — satu per format periode: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15 Harian: 115 bendungan · 19.895 sekuens · val MAE 0,059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10 Harian: 95 bendungan · 24.605 sekuens · val MAE 0,069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5 fitur per timestep: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TMA ternormalisasi (min–max per bendungan)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volume inflow ternormalisasi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sin &amp; cos posisi periode dalam tahun (musiman)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SKOR SIFAT MUSIM tahun air: Kering -1 / Normal 0 / Basah +1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Adam lr 0,001 · MSE · EarlyStopping + ReduceLROnPlateau · split temporal 80/20.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743200"/>
            <a:ext cx="5303520" cy="33832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880360"/>
            <a:ext cx="489204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2A47"/>
                </a:solidFill>
                <a:latin typeface="Calibri"/>
              </a:rPr>
              <a:t>Mengapa fitur sifat musim?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• Tahun Basah/Kering menggeser pola resesi TMA musim kering secara sistematis — tanpa fitur ini model hanya melihat pola rata-rata.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• Model belajar dari label tahun 2022-2023 s.d. 2025-2026 per bendungan, lalu prediksi 2026 memakai karakter tahun air 2025-2026 (Normal untuk 174 bendungan, Basah 36, Kering 2).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22A35"/>
                </a:solidFill>
                <a:latin typeface="Calibri"/>
              </a:rPr>
              <a:t>• Bukti manfaat: bias backtest turun ke hampir nol (+0,02 m) dan MAE membaik dibanding model tanpa fitur musim (1,07 vs 1,19 m).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Cara Menguji Akurasi: Backtest &amp; 5 Metode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22A35"/>
                </a:solidFill>
                <a:latin typeface="Calibri"/>
              </a:rPr>
              <a:t>Backtest: model dimundurkan ke titik cutoff, memprediksi horizon Agu–Des hanya dari data SEBELUM cutoff, lalu dibandingkan dengan realisasi. 2 periode uji × 210 bendungan × 10/15 periode = 2.575 titik uji per metode per periode.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10312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LSTM (produksi)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488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model produksi + fitur sifat musim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70048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670048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Persistensi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71576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TMA periode terakhir dianggap konstan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36976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236976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Naif musiman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282696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TMA periode kalender sama tahun lalu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03904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803904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Klimatologi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84962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rata-rata TMA per label periode, seluruh histori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70832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70832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Tren linier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41655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regresi 12 periode terakhir diekstrapolasi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103120"/>
            <a:ext cx="5303520" cy="38404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240280"/>
            <a:ext cx="489204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0F2A47"/>
                </a:solidFill>
                <a:latin typeface="Calibri"/>
              </a:rPr>
              <a:t>Periode uji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• Agu–Des 2025 — kalender sama dengan horizon 2026 (musim kering)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• Mar–Jul 2026 — periode terbaru berealisasi</a:t>
            </a:r>
          </a:p>
          <a:p>
            <a:pPr algn="l">
              <a:lnSpc>
                <a:spcPct val="122000"/>
              </a:lnSpc>
            </a:pPr>
            <a:r>
              <a:rPr sz="800" b="0">
                <a:solidFill>
                  <a:srgbClr val="222A35"/>
                </a:solidFill>
                <a:latin typeface="Calibr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400" b="1">
                <a:solidFill>
                  <a:srgbClr val="0F2A47"/>
                </a:solidFill>
                <a:latin typeface="Calibri"/>
              </a:rPr>
              <a:t>Metrik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MAE (utama) · RMSE · Bias · MAPE terhadap rentang TMA bendungan</a:t>
            </a:r>
          </a:p>
          <a:p>
            <a:pPr algn="l">
              <a:lnSpc>
                <a:spcPct val="122000"/>
              </a:lnSpc>
            </a:pPr>
            <a:r>
              <a:rPr sz="800" b="0">
                <a:solidFill>
                  <a:srgbClr val="222A35"/>
                </a:solidFill>
                <a:latin typeface="Calibr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6E7B8A"/>
                </a:solidFill>
                <a:latin typeface="Calibri"/>
              </a:rPr>
              <a:t>Catatan kejujuran: periode uji masih dalam rentang data pelatihan model produksi sehingga skor LSTM cenderung optimis; baseline tidak belajar apa pun sehingga tetap pembanding yang adil.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Hasil Akurasi: LSTM Terbaik di Kedua Periode Uji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pic>
        <p:nvPicPr>
          <p:cNvPr id="7" name="Picture 6" descr="ppt2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6949440" cy="3472831"/>
          </a:xfrm>
          <a:prstGeom prst="rect">
            <a:avLst/>
          </a:prstGeom>
          <a:ln w="12700">
            <a:solidFill>
              <a:srgbClr val="D5DDE5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772400" y="1371600"/>
            <a:ext cx="39319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4747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2A47"/>
                </a:solidFill>
                <a:latin typeface="Calibri"/>
              </a:rPr>
              <a:t>LSTM (produksi)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35"/>
                </a:solidFill>
                <a:latin typeface="Calibri"/>
              </a:rPr>
              <a:t>MAE 1,07 m (uji Agu–Des 2025)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35"/>
                </a:solidFill>
                <a:latin typeface="Calibri"/>
              </a:rPr>
              <a:t>MAE 0,88 m (uji Mar–Jul 2026)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222A35"/>
                </a:solidFill>
                <a:latin typeface="Calibri"/>
              </a:rPr>
              <a:t>Bias +0,02 / +0,08 m (≈ nol)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E7B8A"/>
                </a:solidFill>
                <a:latin typeface="Calibri"/>
              </a:rPr>
              <a:t>RMSE 1,67 / 1,52 m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E7B8A"/>
                </a:solidFill>
                <a:latin typeface="Calibri"/>
              </a:rPr>
              <a:t>MAPE 17,1% / 14,7% dari rentang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703320"/>
            <a:ext cx="397763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222A35"/>
                </a:solidFill>
                <a:latin typeface="Calibri"/>
              </a:rPr>
              <a:t>• 37% lebih akurat dari baseline terbaik (Persistensi 1,69 m) di musim kering.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Calibri"/>
              </a:rPr>
              <a:t>• Membaik dari model bulanan sebelumnya (MAE 1,19 → 1,07 m) berkat skala periode + fitur sifat musim.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Calibri"/>
              </a:rPr>
              <a:t>• Rincian per bendungan: output/prediksi/evaluasi_metode.xlsx.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Dashboard Streamlit — Struktur &amp;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FD4E6"/>
                </a:solidFill>
                <a:latin typeface="Calibri"/>
              </a:rPr>
              <a:t>streamlit run 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063240" cy="694944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2834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🏜️ Siaga Kekeringan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252728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A35"/>
                </a:solidFill>
                <a:latin typeface="Calibri"/>
              </a:rPr>
              <a:t>KPI 3 kategori, donat &amp; batang status per bulan/balai, kalender kritis, defisit air, prioritas berskor, akurasi 5 metode, KESIMPULAN otomatis + unduh 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7400"/>
            <a:ext cx="3063240" cy="694944"/>
          </a:xfrm>
          <a:prstGeom prst="roundRect">
            <a:avLst>
              <a:gd name="adj" fmla="val 8000"/>
            </a:avLst>
          </a:prstGeom>
          <a:solidFill>
            <a:srgbClr val="1C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2834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📈 Detail Bendungan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075688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A35"/>
                </a:solidFill>
                <a:latin typeface="Calibri"/>
              </a:rPr>
              <a:t>grafik interaktif per periode (realisasi, prediksi, BON A/B, RTOW, historis per tahun), HASIL ANALISIS (status + sifat musim + akurasi), neraca air, unduh JPG/Excel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80360"/>
            <a:ext cx="3063240" cy="694944"/>
          </a:xfrm>
          <a:prstGeom prst="roundRect">
            <a:avLst>
              <a:gd name="adj" fmla="val 8000"/>
            </a:avLst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2834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🚨 Pemantauan Agustus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898648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A35"/>
                </a:solidFill>
                <a:latin typeface="Calibri"/>
              </a:rPr>
              <a:t>nilai periode terburuk per bulan tinjauan, selisih ke BON A/B &amp; RTOW, peringkat kerawanan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03320"/>
            <a:ext cx="3063240" cy="694944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834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🗂️ Rekap &amp; Di bawah BON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721608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A35"/>
                </a:solidFill>
                <a:latin typeface="Calibri"/>
              </a:rPr>
              <a:t>rekapitulasi 3 kategori (tab per kategori) + rincian periode menembus BON B + per balai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26280"/>
            <a:ext cx="3063240" cy="694944"/>
          </a:xfrm>
          <a:prstGeom prst="roundRect">
            <a:avLst>
              <a:gd name="adj" fmla="val 8000"/>
            </a:avLst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26280"/>
            <a:ext cx="2834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🧩 Data Belum Cocok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544568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A35"/>
                </a:solidFill>
                <a:latin typeface="Calibri"/>
              </a:rPr>
              <a:t>masalah keterhubungan data antar sumber + tindak lanjut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49240"/>
            <a:ext cx="3063240" cy="694944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2834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⬇️ Unduh Laporan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367528"/>
            <a:ext cx="4892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A35"/>
                </a:solidFill>
                <a:latin typeface="Calibri"/>
              </a:rPr>
              <a:t>Excel 10 lembar + ZIP grafik JPG + laporan PDF — semua bendungan / hanya di bawah BON 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1234440"/>
            <a:ext cx="2834640" cy="4846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1371600"/>
            <a:ext cx="2423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2A47"/>
                </a:solidFill>
                <a:latin typeface="Calibri"/>
              </a:rPr>
              <a:t>Filter global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• Pulau / wilayah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• Balai (BBWS/BWS)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A35"/>
                </a:solidFill>
                <a:latin typeface="Calibri"/>
              </a:rPr>
              <a:t>• Status terburuk (3 kategori)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222A35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E7B8A"/>
                </a:solidFill>
                <a:latin typeface="Calibri"/>
              </a:rPr>
              <a:t>Berlaku di semua menu termasuk isi Excel/ZIP/PDF yang diunduh — tiap balai bisa membuat laporan wilayahnya sendiri.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Siaga Kekeringan — Rekap 3 Kategori &amp; Visual Keputusan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pic>
        <p:nvPicPr>
          <p:cNvPr id="7" name="Picture 6" descr="fin_sia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503920" cy="5049202"/>
          </a:xfrm>
          <a:prstGeom prst="rect">
            <a:avLst/>
          </a:prstGeom>
          <a:ln w="12700">
            <a:solidFill>
              <a:srgbClr val="D5DDE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235440" y="1463040"/>
            <a:ext cx="2560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KPI: 210 dipantau · 30 di atas BON A · 95 di antara · 85 di bawah BON B · 161 bawah RTOW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Donat proporsi status + batang per bulan (dari periode terburuk) — kondisi terberat Desember (64 bendungan)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Semua grafik interaktif (hover) dengan warna konsisten: merah=bawah B, amber=antara, hijau=atas 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Detail Bendungan — Grafik Interaktif per Periode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pic>
        <p:nvPicPr>
          <p:cNvPr id="7" name="Picture 6" descr="fi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503920" cy="5049202"/>
          </a:xfrm>
          <a:prstGeom prst="rect">
            <a:avLst/>
          </a:prstGeom>
          <a:ln w="12700">
            <a:solidFill>
              <a:srgbClr val="D5DDE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235440" y="1463040"/>
            <a:ext cx="2560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222A35"/>
                </a:solidFill>
                <a:latin typeface="Calibri"/>
              </a:rPr>
              <a:t>• Sumbu-x label periode 01-01 … 12-02/12-03 sesuai format RTOW bendungan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Hijau realisasi · merah prediksi · amber/coral BON A/B · biru titik RTOW · lingkaran = periode bawah BON B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Opsional: historis per tahun 2018–2025 (garis abu) untuk konteks musiman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Calibri"/>
              </a:rPr>
              <a:t>• Di bawahnya: Hasil Analisis, neraca air surplus/defisit, unduh JPG &amp; Excel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Hasil Utama Prediksi Agustus–Desember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Rekapitulasi 3 kategori (status terburuk Agu–Des):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Di atas BON A: 30 bendungan (14%)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Di antara BON A dan BON B: 95 bendungan (45%)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Di bawah BON B: 85 bendungan (40%) — puncak Desember (64)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Balai paling terdampak: BBWS NT I (41 bendungan di bawah BON B), disusul BBWS NT II &amp; BBWS Pemali Juana.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161 bendungan di bawah elevasi rencana RTOW ≥1 periode — realisasi operasi lebih rendah dari rencana.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Neraca air Agu–Des: 120 bendungan defisit, total 1.743,7 juta m³; terbesar LODAN (119 juta m³ pada Agustus).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Kesimpulan &amp; daftar prioritas otomatis tersedia di dashboard dan PDF.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80160"/>
            <a:ext cx="521208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417320"/>
            <a:ext cx="48006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2A47"/>
                </a:solidFill>
                <a:latin typeface="Calibri"/>
              </a:rPr>
              <a:t>Perlu verifikasi data (temuan QC)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• Beberapa bendungan menunjukkan selisih tak wajar terhadap BON B (mis. TEMPURAN −201 m, SEPIT −89 m) — indikasi nilai BON pada file referensi salah satuan/baris untuk id tsb.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• 2 bendungan seluruh TMA-nya ditolak QC (BD046, BD200) — di luar rentang storage curve.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22A35"/>
                </a:solidFill>
                <a:latin typeface="Calibri"/>
              </a:rPr>
              <a:t>• Daftar lengkap ada di menu 🧩 Data Belum Cocok.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52628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4681728"/>
            <a:ext cx="4663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Cara menjalankan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BFD4E6"/>
                </a:solidFill>
                <a:latin typeface="Calibri"/>
              </a:rPr>
              <a:t>1)  python run_pipeline.py   (±15–20 menit)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BFD4E6"/>
                </a:solidFill>
                <a:latin typeface="Calibri"/>
              </a:rPr>
              <a:t>2)  streamlit run app.py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Kesimpulan &amp; Tindak Lanjut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2560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FB8D0"/>
                </a:solidFill>
                <a:latin typeface="Calibri"/>
              </a:rPr>
              <a:t>PMB · Dit. Bina 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7132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Sistem kini bekerja pada resolusi operasional yang sama dengan RTOW (10/15-harian) — sandingan langsung per periode, bukan rata-rata bulanan.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Fitur sifat musim membuat model menyesuaikan diri dengan karakter tahun berjalan; akurasi teruji MAE 0,88–1,07 m dengan bias ≈ 0.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• 40% bendungan diprediksi menembus BON B minimal satu periode — daftar prioritas berskor siap dipakai menetapkan tindakan per balai.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• Tindak lanjut disarankan: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verifikasi nilai BON/RTOW anomali pada file referensi (TEMPURAN, SEPIT, dll.)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lengkapi sifat musim tahun air 2026-2027 saat prakiraan BMKG terbit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perbaiki data BD046 &amp; BD200 (ditolak QC)</a:t>
            </a:r>
          </a:p>
          <a:p>
            <a:pPr lv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E7B8A"/>
                </a:solidFill>
                <a:latin typeface="Calibri"/>
              </a:rPr>
              <a:t>– jalankan ulang pipeline tiap awal bulan; evaluasi ulang akurasi dengan cutoff di luar data latih untuk skor konservatif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5394960"/>
            <a:ext cx="3657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E7B8A"/>
                </a:solidFill>
                <a:latin typeface="Calibri"/>
              </a:rPr>
              <a:t>Pusat Monitoring Bendungan
Subdit OP Bendungan dan Danau
Dit. Bina OP · Ditjen SDA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